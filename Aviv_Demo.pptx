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4" r:id="rId3"/>
    <p:sldId id="265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C5D"/>
    <a:srgbClr val="F5B700"/>
    <a:srgbClr val="1F6AE1"/>
    <a:srgbClr val="9CA3AF"/>
    <a:srgbClr val="F2F4F7"/>
    <a:srgbClr val="E8F0FE"/>
    <a:srgbClr val="374151"/>
    <a:srgbClr val="44403C"/>
    <a:srgbClr val="7A4F01"/>
    <a:srgbClr val="FFF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EFC4-2776-9ABA-C7E0-0E7E9C110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783EA-E32D-B246-E531-5319C3254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49C4C-0F9E-056B-6FDB-4BB75D59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98135-D2D3-F54E-D0BA-3431757F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9EC38-4FC5-7AFC-2836-A12E149F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5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AB7A7-59BA-AFAA-0297-3BBCB9688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161EA-564C-DCBA-B30B-278005D07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5894D-BAB1-D8C7-FB38-671DB15D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D35B7-84DD-CEBC-172C-99062594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AD93F-EC9E-4F7F-FAFA-0D0DD82F4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0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B230-1C0E-F395-96C5-72622B47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A3E3A-9DE3-E752-EA80-8D498237B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E35A8-894F-BB5E-82DB-07C10380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445E8-41CC-709B-CF3C-DAD9C18D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646F4-693A-6455-2443-08D4DC614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0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20497-A81D-83EC-0CE4-AE6283BB6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ED7E7-5E42-5841-F76F-7EEBA19C9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8097D-FEB4-E00C-1BED-30A8D39D0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BE7B2-85B3-B01B-D23F-464D5143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EDEBF-B724-BA64-13FF-ADB77B95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5D96C-7D18-0405-F91A-21E00527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4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BEEB-A2C1-990A-0EA6-86252075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DC610-6BCF-5362-37C4-045BCFFEE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B473C-9DBC-4FEB-9261-893ACAF6B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CD359-7964-70E7-C07B-CA98EA618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9FABC-20F9-0DCC-FD1D-1A4F990C1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39B1B-27E3-6BCB-1740-A1620FD7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E5075-C041-7656-5F0A-8776CA7F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4D3811-2C1D-1CB9-3CEB-9C0DE567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1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9555-96C3-42CE-923D-9F5AE840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C3AF5-9E07-6B64-12E2-BBBABD641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46421A-B59C-C1E9-A9D9-89C3F959B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4FE25-12A8-EE13-DECD-6F03D4C3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1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1E572-5122-CEC0-3EF3-690C45DE5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3BFFA-6E23-C235-B9D0-6F4D04CA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18E09-A9E7-AC52-0353-FEFC36AB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3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EB23-C053-5FFB-D1A3-96641593F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AE389-2610-A8FA-95BC-8A041E699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A9152-9B02-6783-63E6-5772C2092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FCD4B-211C-08C4-36C9-1417D0D3D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08B3B-E070-5E9D-41D2-9D512331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3A646-A462-64C0-24BB-F1704D95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33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427B-4BC7-5042-D490-8BF246766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A4723-F444-5797-D48F-FB9AB3C28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12B5D-81AB-7998-C587-79EFF7151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49FFD-AB6A-C413-0FA0-11EAC15C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0BB47-97DB-D549-06A3-63AFC093D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ECE41-1538-926A-78E4-B31428CA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2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EF5D-E8B1-4DA8-C530-DFFF5A0F2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01B42-4FD9-A7E7-A989-78D3EC41B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F5251-7D1E-6C89-5F36-64E5A3BE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E9768-3BAE-D0A3-A65B-FF72687F2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F22FF-CE59-4C6A-6F20-5549C559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8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C1F68A-653D-2A1F-ED34-C6D85C930E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A9BA7-7E72-5466-3C5E-5A63FCCEF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5D956-76D2-C5B8-8F3B-89C5BF10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ACCBD-1437-D03D-6F35-02AEB10D0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3E74D-53B5-0AED-DDF7-C9E28436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9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5C9971-4EDA-F530-7671-E3D4CD5D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F4EA5-B245-82DD-FF0B-82DE9727B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97D0A-C36A-D086-6392-77BB860C4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26EFF-4047-4F3A-B350-882CEA2925B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312B0-2BA4-EF45-E3F0-201FB4C3C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9B0E9-199F-20BA-C036-BB19616E9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759D9-C060-4CC4-A89B-338B7F2D2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4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DC903E-CD1E-2340-1F38-A822DC5CB916}"/>
              </a:ext>
            </a:extLst>
          </p:cNvPr>
          <p:cNvSpPr/>
          <p:nvPr/>
        </p:nvSpPr>
        <p:spPr>
          <a:xfrm>
            <a:off x="0" y="267419"/>
            <a:ext cx="12192000" cy="94890"/>
          </a:xfrm>
          <a:prstGeom prst="rect">
            <a:avLst/>
          </a:prstGeom>
          <a:solidFill>
            <a:srgbClr val="1F6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28352-E0FD-5898-811E-BF7494027538}"/>
              </a:ext>
            </a:extLst>
          </p:cNvPr>
          <p:cNvSpPr txBox="1"/>
          <p:nvPr/>
        </p:nvSpPr>
        <p:spPr>
          <a:xfrm>
            <a:off x="0" y="-54468"/>
            <a:ext cx="299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F6AE1"/>
                </a:solidFill>
              </a:rPr>
              <a:t>Data Platform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B1B21D-0EA7-F447-DA38-8F32F80D6DCD}"/>
              </a:ext>
            </a:extLst>
          </p:cNvPr>
          <p:cNvSpPr/>
          <p:nvPr/>
        </p:nvSpPr>
        <p:spPr>
          <a:xfrm>
            <a:off x="2924796" y="927175"/>
            <a:ext cx="6235253" cy="3424688"/>
          </a:xfrm>
          <a:prstGeom prst="rect">
            <a:avLst/>
          </a:prstGeom>
          <a:noFill/>
          <a:ln>
            <a:solidFill>
              <a:srgbClr val="0B3C5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C31748-F5BA-DCD8-F697-299BA40F3E0A}"/>
              </a:ext>
            </a:extLst>
          </p:cNvPr>
          <p:cNvSpPr/>
          <p:nvPr/>
        </p:nvSpPr>
        <p:spPr>
          <a:xfrm>
            <a:off x="299769" y="1889286"/>
            <a:ext cx="2050885" cy="1824222"/>
          </a:xfrm>
          <a:prstGeom prst="rect">
            <a:avLst/>
          </a:prstGeom>
          <a:noFill/>
          <a:ln>
            <a:solidFill>
              <a:srgbClr val="0B3C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phic 25" descr="Database with solid fill">
            <a:extLst>
              <a:ext uri="{FF2B5EF4-FFF2-40B4-BE49-F238E27FC236}">
                <a16:creationId xmlns:a16="http://schemas.microsoft.com/office/drawing/2014/main" id="{5C50F0CE-F871-55B9-652D-33C9105E3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9862" y="1615388"/>
            <a:ext cx="914400" cy="914400"/>
          </a:xfrm>
          <a:prstGeom prst="rect">
            <a:avLst/>
          </a:prstGeom>
        </p:spPr>
      </p:pic>
      <p:pic>
        <p:nvPicPr>
          <p:cNvPr id="27" name="Graphic 26" descr="Database with solid fill">
            <a:extLst>
              <a:ext uri="{FF2B5EF4-FFF2-40B4-BE49-F238E27FC236}">
                <a16:creationId xmlns:a16="http://schemas.microsoft.com/office/drawing/2014/main" id="{FFB5D3A1-F138-4603-1018-CCCD57179F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1899" y="1588624"/>
            <a:ext cx="914400" cy="914400"/>
          </a:xfrm>
          <a:prstGeom prst="rect">
            <a:avLst/>
          </a:prstGeom>
        </p:spPr>
      </p:pic>
      <p:pic>
        <p:nvPicPr>
          <p:cNvPr id="28" name="Graphic 27" descr="Database with solid fill">
            <a:extLst>
              <a:ext uri="{FF2B5EF4-FFF2-40B4-BE49-F238E27FC236}">
                <a16:creationId xmlns:a16="http://schemas.microsoft.com/office/drawing/2014/main" id="{6791094C-3282-49BB-6D5A-145680B26E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73240" y="1562872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07463BF-3D78-6797-0E7A-86F532C61F23}"/>
              </a:ext>
            </a:extLst>
          </p:cNvPr>
          <p:cNvSpPr txBox="1"/>
          <p:nvPr/>
        </p:nvSpPr>
        <p:spPr>
          <a:xfrm>
            <a:off x="3260260" y="1095906"/>
            <a:ext cx="17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4151"/>
                </a:solidFill>
              </a:rPr>
              <a:t>Bronze</a:t>
            </a:r>
            <a:endParaRPr lang="en-US" sz="1000" b="1" dirty="0">
              <a:solidFill>
                <a:srgbClr val="37415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7457B4-CF22-8971-FBDD-966CE29C9FF3}"/>
              </a:ext>
            </a:extLst>
          </p:cNvPr>
          <p:cNvSpPr txBox="1"/>
          <p:nvPr/>
        </p:nvSpPr>
        <p:spPr>
          <a:xfrm>
            <a:off x="299769" y="423020"/>
            <a:ext cx="8309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B3C5D"/>
                </a:solidFill>
              </a:rPr>
              <a:t>Full-snapshot ingestion • Historical tracking in Silver • Business-ready Gold KPIs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54ABE4-9C4A-CAC2-9AD3-3C8232286D14}"/>
              </a:ext>
            </a:extLst>
          </p:cNvPr>
          <p:cNvSpPr txBox="1"/>
          <p:nvPr/>
        </p:nvSpPr>
        <p:spPr>
          <a:xfrm>
            <a:off x="388065" y="1889286"/>
            <a:ext cx="178396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B3C5D"/>
                </a:solidFill>
              </a:rPr>
              <a:t>Ingestion</a:t>
            </a:r>
          </a:p>
          <a:p>
            <a:pPr algn="ctr"/>
            <a:r>
              <a:rPr lang="en-US" dirty="0">
                <a:solidFill>
                  <a:srgbClr val="0B3C5D"/>
                </a:solidFill>
              </a:rPr>
              <a:t>CSV Snapshots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Full snapshot of active listings (can run multiple times/day)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0B3C5D"/>
                </a:solidFill>
              </a:rPr>
              <a:t>snapshot_ts</a:t>
            </a:r>
            <a:r>
              <a:rPr lang="en-US" sz="1000" dirty="0">
                <a:solidFill>
                  <a:srgbClr val="0B3C5D"/>
                </a:solidFill>
              </a:rPr>
              <a:t> derived from filename (YYYY_MM_DD_HHMMSS)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Loaded via Stage + COPY INTO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5C68DF-3825-7356-36AB-B02B02799E7E}"/>
              </a:ext>
            </a:extLst>
          </p:cNvPr>
          <p:cNvSpPr txBox="1"/>
          <p:nvPr/>
        </p:nvSpPr>
        <p:spPr>
          <a:xfrm>
            <a:off x="5098571" y="1095906"/>
            <a:ext cx="17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B3C5D"/>
                </a:solidFill>
              </a:rPr>
              <a:t>Silver</a:t>
            </a:r>
            <a:endParaRPr lang="en-US" sz="1000" b="1" dirty="0">
              <a:solidFill>
                <a:srgbClr val="0B3C5D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12E723-6997-2926-48D6-B63B63E3C27D}"/>
              </a:ext>
            </a:extLst>
          </p:cNvPr>
          <p:cNvSpPr txBox="1"/>
          <p:nvPr/>
        </p:nvSpPr>
        <p:spPr>
          <a:xfrm>
            <a:off x="6936882" y="1101328"/>
            <a:ext cx="17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A4F01"/>
                </a:solidFill>
              </a:rPr>
              <a:t>Gold</a:t>
            </a:r>
            <a:endParaRPr lang="en-US" sz="1000" b="1" dirty="0">
              <a:solidFill>
                <a:srgbClr val="7A4F0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41BBE-35DD-BAD0-6548-EC7D92219F45}"/>
              </a:ext>
            </a:extLst>
          </p:cNvPr>
          <p:cNvSpPr txBox="1"/>
          <p:nvPr/>
        </p:nvSpPr>
        <p:spPr>
          <a:xfrm>
            <a:off x="3103423" y="2580247"/>
            <a:ext cx="181553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B3C5D"/>
                </a:solidFill>
              </a:rPr>
              <a:t>Raw tables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Immutable raw tables (no updates, no deletes)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Snapshot + ingestion metadata for lineage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Enables deterministic reprocessing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11C5BB-48BE-0C86-2C44-F11DAAAE3729}"/>
              </a:ext>
            </a:extLst>
          </p:cNvPr>
          <p:cNvSpPr txBox="1"/>
          <p:nvPr/>
        </p:nvSpPr>
        <p:spPr>
          <a:xfrm>
            <a:off x="4736775" y="2477080"/>
            <a:ext cx="210215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B3C5D"/>
                </a:solidFill>
              </a:rPr>
              <a:t>Curated &amp; historical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Listings modeled as SCD Type 2 dimension (</a:t>
            </a:r>
            <a:r>
              <a:rPr lang="en-US" sz="1000" dirty="0" err="1">
                <a:solidFill>
                  <a:srgbClr val="0B3C5D"/>
                </a:solidFill>
              </a:rPr>
              <a:t>is_current</a:t>
            </a:r>
            <a:r>
              <a:rPr lang="en-US" sz="1000" dirty="0">
                <a:solidFill>
                  <a:srgbClr val="0B3C5D"/>
                </a:solidFill>
              </a:rPr>
              <a:t>, </a:t>
            </a:r>
            <a:r>
              <a:rPr lang="en-US" sz="1000" dirty="0" err="1">
                <a:solidFill>
                  <a:srgbClr val="0B3C5D"/>
                </a:solidFill>
              </a:rPr>
              <a:t>is_active</a:t>
            </a:r>
            <a:r>
              <a:rPr lang="en-US" sz="1000" dirty="0">
                <a:solidFill>
                  <a:srgbClr val="0B3C5D"/>
                </a:solidFill>
              </a:rPr>
              <a:t>, effective from / to)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Leads modeled as fact events (one row per contact)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Data quality enforced (invalid leads quarantined)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781946-D31D-9BC8-A775-97A0AFF68623}"/>
              </a:ext>
            </a:extLst>
          </p:cNvPr>
          <p:cNvSpPr txBox="1"/>
          <p:nvPr/>
        </p:nvSpPr>
        <p:spPr>
          <a:xfrm>
            <a:off x="6881710" y="2580247"/>
            <a:ext cx="210215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B3C5D"/>
                </a:solidFill>
              </a:rPr>
              <a:t>Business Ready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Active only listings and leads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Clean joins, no invalid references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Precomputed KPIs / Marts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AB5243-23D0-1A7C-0CD6-5A994FCFE89C}"/>
              </a:ext>
            </a:extLst>
          </p:cNvPr>
          <p:cNvSpPr txBox="1"/>
          <p:nvPr/>
        </p:nvSpPr>
        <p:spPr>
          <a:xfrm>
            <a:off x="9971112" y="1971036"/>
            <a:ext cx="157704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B3C5D"/>
                </a:solidFill>
              </a:rPr>
              <a:t>Reporting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BI Dashboards (region, property type, channel)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Ad-hoc SQL by analysts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Stable inputs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F8A1A1-D314-07BD-49F8-6A218373ADA6}"/>
              </a:ext>
            </a:extLst>
          </p:cNvPr>
          <p:cNvSpPr/>
          <p:nvPr/>
        </p:nvSpPr>
        <p:spPr>
          <a:xfrm>
            <a:off x="9734192" y="1705256"/>
            <a:ext cx="2050885" cy="1824222"/>
          </a:xfrm>
          <a:prstGeom prst="rect">
            <a:avLst/>
          </a:prstGeom>
          <a:noFill/>
          <a:ln>
            <a:solidFill>
              <a:srgbClr val="0B3C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F85D061-C34C-2F3C-FB6D-F5F8F0CE3ED2}"/>
              </a:ext>
            </a:extLst>
          </p:cNvPr>
          <p:cNvCxnSpPr/>
          <p:nvPr/>
        </p:nvCxnSpPr>
        <p:spPr>
          <a:xfrm>
            <a:off x="2441275" y="2794958"/>
            <a:ext cx="379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86D9F0E-6711-893C-E8DD-4824412F3CA1}"/>
              </a:ext>
            </a:extLst>
          </p:cNvPr>
          <p:cNvCxnSpPr/>
          <p:nvPr/>
        </p:nvCxnSpPr>
        <p:spPr>
          <a:xfrm>
            <a:off x="9253267" y="2794958"/>
            <a:ext cx="379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Graphic 47" descr="Chevron arrows with solid fill">
            <a:extLst>
              <a:ext uri="{FF2B5EF4-FFF2-40B4-BE49-F238E27FC236}">
                <a16:creationId xmlns:a16="http://schemas.microsoft.com/office/drawing/2014/main" id="{FB39DA93-316E-E869-A4D8-FFAD79819A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76998" y="1857993"/>
            <a:ext cx="375542" cy="375542"/>
          </a:xfrm>
          <a:prstGeom prst="rect">
            <a:avLst/>
          </a:prstGeom>
        </p:spPr>
      </p:pic>
      <p:pic>
        <p:nvPicPr>
          <p:cNvPr id="49" name="Graphic 48" descr="Chevron arrows with solid fill">
            <a:extLst>
              <a:ext uri="{FF2B5EF4-FFF2-40B4-BE49-F238E27FC236}">
                <a16:creationId xmlns:a16="http://schemas.microsoft.com/office/drawing/2014/main" id="{A3F766FB-86A7-965A-86E6-5C6F0F6E65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79459" y="1857993"/>
            <a:ext cx="375542" cy="37554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BA26E0F-6A55-1849-6844-B5D8989C7698}"/>
              </a:ext>
            </a:extLst>
          </p:cNvPr>
          <p:cNvSpPr/>
          <p:nvPr/>
        </p:nvSpPr>
        <p:spPr>
          <a:xfrm>
            <a:off x="4592993" y="5148146"/>
            <a:ext cx="2812212" cy="1257606"/>
          </a:xfrm>
          <a:prstGeom prst="rect">
            <a:avLst/>
          </a:prstGeom>
          <a:noFill/>
          <a:ln>
            <a:solidFill>
              <a:srgbClr val="0B3C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C9CDC2-7CB1-4CD0-B339-C83E7D3A32AB}"/>
              </a:ext>
            </a:extLst>
          </p:cNvPr>
          <p:cNvSpPr txBox="1"/>
          <p:nvPr/>
        </p:nvSpPr>
        <p:spPr>
          <a:xfrm>
            <a:off x="4818655" y="5269376"/>
            <a:ext cx="258655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B3C5D"/>
                </a:solidFill>
              </a:rPr>
              <a:t>Design Principles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Full snapshots, not partial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Raw data is never changed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History is kept, nothing is overwritten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Only validated data reaches reporting</a:t>
            </a:r>
          </a:p>
        </p:txBody>
      </p:sp>
      <p:pic>
        <p:nvPicPr>
          <p:cNvPr id="56" name="Graphic 55" descr="Merger outline">
            <a:extLst>
              <a:ext uri="{FF2B5EF4-FFF2-40B4-BE49-F238E27FC236}">
                <a16:creationId xmlns:a16="http://schemas.microsoft.com/office/drawing/2014/main" id="{9D4BE9C5-16B3-D16F-EFA3-A6241C4AAC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6200000">
            <a:off x="5505646" y="915901"/>
            <a:ext cx="798438" cy="765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5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3BB19-B207-CD22-1CFB-D82FCC03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5F40CFE4-C8D7-0E14-2395-2031E077AB6A}"/>
              </a:ext>
            </a:extLst>
          </p:cNvPr>
          <p:cNvSpPr/>
          <p:nvPr/>
        </p:nvSpPr>
        <p:spPr>
          <a:xfrm>
            <a:off x="138028" y="479778"/>
            <a:ext cx="5889228" cy="2676213"/>
          </a:xfrm>
          <a:prstGeom prst="roundRect">
            <a:avLst/>
          </a:prstGeom>
          <a:noFill/>
          <a:ln>
            <a:solidFill>
              <a:srgbClr val="9CA3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913FD9-05FF-9B36-E74C-A670E7295EA0}"/>
              </a:ext>
            </a:extLst>
          </p:cNvPr>
          <p:cNvSpPr/>
          <p:nvPr/>
        </p:nvSpPr>
        <p:spPr>
          <a:xfrm>
            <a:off x="0" y="267419"/>
            <a:ext cx="12192000" cy="94890"/>
          </a:xfrm>
          <a:prstGeom prst="rect">
            <a:avLst/>
          </a:prstGeom>
          <a:solidFill>
            <a:srgbClr val="1F6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E704E-23BB-C0E9-124E-2FAD927E9C4F}"/>
              </a:ext>
            </a:extLst>
          </p:cNvPr>
          <p:cNvSpPr txBox="1"/>
          <p:nvPr/>
        </p:nvSpPr>
        <p:spPr>
          <a:xfrm>
            <a:off x="0" y="-54468"/>
            <a:ext cx="4483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F6AE1"/>
                </a:solidFill>
              </a:rPr>
              <a:t>Data Model &amp; Key Tables - </a:t>
            </a:r>
            <a:r>
              <a:rPr lang="en-US" b="1" dirty="0">
                <a:solidFill>
                  <a:srgbClr val="0B3C5D"/>
                </a:solidFill>
              </a:rPr>
              <a:t>COMPUTATION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2B47B6-39C6-EEB9-EE93-8C80666A5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429" y="3585737"/>
            <a:ext cx="2789011" cy="2229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60ABDD-2E76-817F-3AB4-1A5AF3A2E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85" y="664098"/>
            <a:ext cx="2554252" cy="22231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B53576-E229-9E8F-DB9C-08F752642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648" y="863660"/>
            <a:ext cx="3282530" cy="147815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40CE17-9873-CCEA-A1D1-16AAB3756E05}"/>
              </a:ext>
            </a:extLst>
          </p:cNvPr>
          <p:cNvSpPr txBox="1"/>
          <p:nvPr/>
        </p:nvSpPr>
        <p:spPr>
          <a:xfrm>
            <a:off x="3006618" y="885034"/>
            <a:ext cx="33612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Raw lead/contact events as received (append-only), stored with snapshot + ingestion metadata for traceability.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6C82B5-35EF-A284-6EB5-7D5AD9C1AF66}"/>
              </a:ext>
            </a:extLst>
          </p:cNvPr>
          <p:cNvSpPr txBox="1"/>
          <p:nvPr/>
        </p:nvSpPr>
        <p:spPr>
          <a:xfrm>
            <a:off x="3113141" y="1480926"/>
            <a:ext cx="32090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Raw snapshot ingestion of listings (append-only) including </a:t>
            </a:r>
            <a:r>
              <a:rPr lang="en-US" sz="1000" dirty="0" err="1">
                <a:solidFill>
                  <a:srgbClr val="0B3C5D"/>
                </a:solidFill>
              </a:rPr>
              <a:t>snapshot_ts</a:t>
            </a:r>
            <a:r>
              <a:rPr lang="en-US" sz="1000" dirty="0">
                <a:solidFill>
                  <a:srgbClr val="0B3C5D"/>
                </a:solidFill>
              </a:rPr>
              <a:t>, </a:t>
            </a:r>
            <a:r>
              <a:rPr lang="en-US" sz="1000" dirty="0" err="1">
                <a:solidFill>
                  <a:srgbClr val="0B3C5D"/>
                </a:solidFill>
              </a:rPr>
              <a:t>file_name</a:t>
            </a:r>
            <a:r>
              <a:rPr lang="en-US" sz="1000" dirty="0">
                <a:solidFill>
                  <a:srgbClr val="0B3C5D"/>
                </a:solidFill>
              </a:rPr>
              <a:t>, </a:t>
            </a:r>
            <a:r>
              <a:rPr lang="en-US" sz="1000" dirty="0" err="1">
                <a:solidFill>
                  <a:srgbClr val="0B3C5D"/>
                </a:solidFill>
              </a:rPr>
              <a:t>ingested_at</a:t>
            </a:r>
            <a:r>
              <a:rPr lang="en-US" sz="1000" dirty="0">
                <a:solidFill>
                  <a:srgbClr val="0B3C5D"/>
                </a:solidFill>
              </a:rPr>
              <a:t> for lineage</a:t>
            </a:r>
            <a:endParaRPr lang="en-US" sz="1000" b="1" dirty="0">
              <a:solidFill>
                <a:srgbClr val="0B3C5D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6173AF-CBDE-A8AB-29A0-80A19C0B8F67}"/>
              </a:ext>
            </a:extLst>
          </p:cNvPr>
          <p:cNvSpPr txBox="1"/>
          <p:nvPr/>
        </p:nvSpPr>
        <p:spPr>
          <a:xfrm>
            <a:off x="2305134" y="2641022"/>
            <a:ext cx="3209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File format for CSV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83A921-A484-0A85-AB6F-6E74CFBAE9A9}"/>
              </a:ext>
            </a:extLst>
          </p:cNvPr>
          <p:cNvSpPr txBox="1"/>
          <p:nvPr/>
        </p:nvSpPr>
        <p:spPr>
          <a:xfrm>
            <a:off x="2320633" y="2044570"/>
            <a:ext cx="13204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Stage for CSV files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813391-9B4F-A8E0-4FB0-19FAF16DA199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2560921" y="1162033"/>
            <a:ext cx="445697" cy="18038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E03A319-C96D-A22D-CD73-C161B672C583}"/>
              </a:ext>
            </a:extLst>
          </p:cNvPr>
          <p:cNvCxnSpPr>
            <a:cxnSpLocks/>
          </p:cNvCxnSpPr>
          <p:nvPr/>
        </p:nvCxnSpPr>
        <p:spPr>
          <a:xfrm>
            <a:off x="2560921" y="1652972"/>
            <a:ext cx="573590" cy="8046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357AFE-6D90-54C1-2F49-8D89867E6643}"/>
              </a:ext>
            </a:extLst>
          </p:cNvPr>
          <p:cNvCxnSpPr>
            <a:cxnSpLocks/>
          </p:cNvCxnSpPr>
          <p:nvPr/>
        </p:nvCxnSpPr>
        <p:spPr>
          <a:xfrm>
            <a:off x="1848717" y="2167681"/>
            <a:ext cx="44569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8CBDE8E-FB08-200D-B7C8-F97C69B6BC1C}"/>
              </a:ext>
            </a:extLst>
          </p:cNvPr>
          <p:cNvCxnSpPr>
            <a:cxnSpLocks/>
          </p:cNvCxnSpPr>
          <p:nvPr/>
        </p:nvCxnSpPr>
        <p:spPr>
          <a:xfrm>
            <a:off x="1885911" y="2769358"/>
            <a:ext cx="44569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825B8E-D6F9-26A7-95A2-B7A3A4C9F608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8738559" y="1050039"/>
            <a:ext cx="592505" cy="47123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2D72624-F28C-2854-9D64-6443665BE3F7}"/>
              </a:ext>
            </a:extLst>
          </p:cNvPr>
          <p:cNvSpPr txBox="1"/>
          <p:nvPr/>
        </p:nvSpPr>
        <p:spPr>
          <a:xfrm>
            <a:off x="9331064" y="619152"/>
            <a:ext cx="20916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SCD2 historical dimension for listings; tracks attribute changes over time and flags current vs inactive listings (</a:t>
            </a:r>
            <a:r>
              <a:rPr lang="en-US" sz="1000" dirty="0" err="1">
                <a:solidFill>
                  <a:srgbClr val="0B3C5D"/>
                </a:solidFill>
              </a:rPr>
              <a:t>is_current</a:t>
            </a:r>
            <a:r>
              <a:rPr lang="en-US" sz="1000" dirty="0">
                <a:solidFill>
                  <a:srgbClr val="0B3C5D"/>
                </a:solidFill>
              </a:rPr>
              <a:t>, </a:t>
            </a:r>
            <a:r>
              <a:rPr lang="en-US" sz="1000" dirty="0" err="1">
                <a:solidFill>
                  <a:srgbClr val="0B3C5D"/>
                </a:solidFill>
              </a:rPr>
              <a:t>is_active</a:t>
            </a:r>
            <a:r>
              <a:rPr lang="en-US" sz="1000" dirty="0">
                <a:solidFill>
                  <a:srgbClr val="0B3C5D"/>
                </a:solidFill>
              </a:rPr>
              <a:t>, effective dates)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0834842-6D85-E781-FA7E-E5D1D011EA01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8835352" y="1860282"/>
            <a:ext cx="490863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5E6939A-5B43-196A-2039-707C122FCF06}"/>
              </a:ext>
            </a:extLst>
          </p:cNvPr>
          <p:cNvSpPr txBox="1"/>
          <p:nvPr/>
        </p:nvSpPr>
        <p:spPr>
          <a:xfrm>
            <a:off x="9326215" y="1583283"/>
            <a:ext cx="25990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Cleaned lead events fact table (1 row per lead), deduped by </a:t>
            </a:r>
            <a:r>
              <a:rPr lang="en-US" sz="1000" dirty="0" err="1">
                <a:solidFill>
                  <a:srgbClr val="0B3C5D"/>
                </a:solidFill>
              </a:rPr>
              <a:t>contact_id</a:t>
            </a:r>
            <a:r>
              <a:rPr lang="en-US" sz="1000" dirty="0">
                <a:solidFill>
                  <a:srgbClr val="0B3C5D"/>
                </a:solidFill>
              </a:rPr>
              <a:t>, standardized sources and timestamp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713E31-2646-8D89-71D9-AED59AF0DBDA}"/>
              </a:ext>
            </a:extLst>
          </p:cNvPr>
          <p:cNvSpPr txBox="1"/>
          <p:nvPr/>
        </p:nvSpPr>
        <p:spPr>
          <a:xfrm>
            <a:off x="6905036" y="2682288"/>
            <a:ext cx="3367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Rejected leads that fail validation (e.g., </a:t>
            </a:r>
            <a:r>
              <a:rPr lang="en-US" sz="1000" dirty="0" err="1">
                <a:solidFill>
                  <a:srgbClr val="0B3C5D"/>
                </a:solidFill>
              </a:rPr>
              <a:t>listing_id</a:t>
            </a:r>
            <a:r>
              <a:rPr lang="en-US" sz="1000" dirty="0">
                <a:solidFill>
                  <a:srgbClr val="0B3C5D"/>
                </a:solidFill>
              </a:rPr>
              <a:t> not found); used for monitoring, audit, and upstream fixes.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24DAEFA-DC70-1439-D1B0-49F4AED91E49}"/>
              </a:ext>
            </a:extLst>
          </p:cNvPr>
          <p:cNvCxnSpPr>
            <a:cxnSpLocks/>
          </p:cNvCxnSpPr>
          <p:nvPr/>
        </p:nvCxnSpPr>
        <p:spPr>
          <a:xfrm>
            <a:off x="8259633" y="2290791"/>
            <a:ext cx="0" cy="42338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79C3B61-D3E3-0F78-50ED-C9EBBC3EF4DE}"/>
              </a:ext>
            </a:extLst>
          </p:cNvPr>
          <p:cNvSpPr txBox="1"/>
          <p:nvPr/>
        </p:nvSpPr>
        <p:spPr>
          <a:xfrm>
            <a:off x="2366193" y="4172198"/>
            <a:ext cx="20832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Current active listings only (safe dimension for analytics and joins).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F789531-6328-3EF6-A4F7-5C2A1C263903}"/>
              </a:ext>
            </a:extLst>
          </p:cNvPr>
          <p:cNvCxnSpPr>
            <a:cxnSpLocks/>
          </p:cNvCxnSpPr>
          <p:nvPr/>
        </p:nvCxnSpPr>
        <p:spPr>
          <a:xfrm flipH="1">
            <a:off x="4312425" y="4337343"/>
            <a:ext cx="483604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857E69F-8627-CBDE-5892-E6E84DBC925A}"/>
              </a:ext>
            </a:extLst>
          </p:cNvPr>
          <p:cNvSpPr txBox="1"/>
          <p:nvPr/>
        </p:nvSpPr>
        <p:spPr>
          <a:xfrm>
            <a:off x="5069919" y="6010272"/>
            <a:ext cx="2658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Valid leads linked to active listings only (prevents KPI pollution).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62ADF40-69CE-C14C-7D98-AACA5615B211}"/>
              </a:ext>
            </a:extLst>
          </p:cNvPr>
          <p:cNvCxnSpPr>
            <a:cxnSpLocks/>
          </p:cNvCxnSpPr>
          <p:nvPr/>
        </p:nvCxnSpPr>
        <p:spPr>
          <a:xfrm>
            <a:off x="5968595" y="5712367"/>
            <a:ext cx="0" cy="27061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BF28A62-55C2-2FCD-1FE8-3D0399A7D200}"/>
              </a:ext>
            </a:extLst>
          </p:cNvPr>
          <p:cNvSpPr txBox="1"/>
          <p:nvPr/>
        </p:nvSpPr>
        <p:spPr>
          <a:xfrm>
            <a:off x="7363573" y="4060344"/>
            <a:ext cx="27890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Business KPI mart: leads per active listing, aggregated by region and </a:t>
            </a:r>
            <a:r>
              <a:rPr lang="en-US" sz="1000" dirty="0" err="1">
                <a:solidFill>
                  <a:srgbClr val="0B3C5D"/>
                </a:solidFill>
              </a:rPr>
              <a:t>property_type</a:t>
            </a:r>
            <a:r>
              <a:rPr lang="en-US" sz="1000" dirty="0">
                <a:solidFill>
                  <a:srgbClr val="0B3C5D"/>
                </a:solidFill>
              </a:rPr>
              <a:t> for performance comparisons.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5F0FFB-29E0-09F0-1EAF-181C07AEDE3E}"/>
              </a:ext>
            </a:extLst>
          </p:cNvPr>
          <p:cNvSpPr txBox="1"/>
          <p:nvPr/>
        </p:nvSpPr>
        <p:spPr>
          <a:xfrm>
            <a:off x="7288074" y="4664381"/>
            <a:ext cx="30379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Daily aggregated leads by date, region, property type, and contact source; optimized for BI dashboards and trend analysis.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1EBA83-F875-04A5-BA9C-7D9BF3308B48}"/>
              </a:ext>
            </a:extLst>
          </p:cNvPr>
          <p:cNvSpPr txBox="1"/>
          <p:nvPr/>
        </p:nvSpPr>
        <p:spPr>
          <a:xfrm>
            <a:off x="2051654" y="5025691"/>
            <a:ext cx="23896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Daily KPI mart calculating leads per active listing, used to track performance trends over time by region and property type.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B320EEF-F148-E196-4EB4-CF1D3F518432}"/>
              </a:ext>
            </a:extLst>
          </p:cNvPr>
          <p:cNvCxnSpPr>
            <a:cxnSpLocks/>
          </p:cNvCxnSpPr>
          <p:nvPr/>
        </p:nvCxnSpPr>
        <p:spPr>
          <a:xfrm flipH="1">
            <a:off x="4312425" y="5073790"/>
            <a:ext cx="534118" cy="14458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BE01D11-2EFD-6B07-4DF0-901A44414B30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7016267" y="4337343"/>
            <a:ext cx="347306" cy="19176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C7D272A-BFE9-D0C7-62BD-858AD0107F1F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6379523" y="4826939"/>
            <a:ext cx="908551" cy="11444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191240C-9962-4037-1E0A-791B3B043F2D}"/>
              </a:ext>
            </a:extLst>
          </p:cNvPr>
          <p:cNvSpPr/>
          <p:nvPr/>
        </p:nvSpPr>
        <p:spPr>
          <a:xfrm>
            <a:off x="6185402" y="505065"/>
            <a:ext cx="5889228" cy="2676213"/>
          </a:xfrm>
          <a:prstGeom prst="roundRect">
            <a:avLst/>
          </a:prstGeom>
          <a:noFill/>
          <a:ln>
            <a:solidFill>
              <a:srgbClr val="1F6AE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5C753ABC-719F-9E09-8923-821E6B753071}"/>
              </a:ext>
            </a:extLst>
          </p:cNvPr>
          <p:cNvSpPr/>
          <p:nvPr/>
        </p:nvSpPr>
        <p:spPr>
          <a:xfrm>
            <a:off x="1901928" y="3514586"/>
            <a:ext cx="8250655" cy="2971057"/>
          </a:xfrm>
          <a:prstGeom prst="roundRect">
            <a:avLst/>
          </a:prstGeom>
          <a:noFill/>
          <a:ln>
            <a:solidFill>
              <a:srgbClr val="F5B7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0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C08B-F442-2F30-B840-F7C90DD8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23E1F-0F30-5A95-F919-58DA952F2A79}"/>
              </a:ext>
            </a:extLst>
          </p:cNvPr>
          <p:cNvSpPr/>
          <p:nvPr/>
        </p:nvSpPr>
        <p:spPr>
          <a:xfrm>
            <a:off x="0" y="267419"/>
            <a:ext cx="12192000" cy="94890"/>
          </a:xfrm>
          <a:prstGeom prst="rect">
            <a:avLst/>
          </a:prstGeom>
          <a:solidFill>
            <a:srgbClr val="1F6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BC129A-79A2-39DB-FDD2-8B9F8CFBEEE9}"/>
              </a:ext>
            </a:extLst>
          </p:cNvPr>
          <p:cNvSpPr txBox="1"/>
          <p:nvPr/>
        </p:nvSpPr>
        <p:spPr>
          <a:xfrm>
            <a:off x="0" y="-54468"/>
            <a:ext cx="454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F6AE1"/>
                </a:solidFill>
              </a:rPr>
              <a:t>Data Model &amp; Key Tables - </a:t>
            </a:r>
            <a:r>
              <a:rPr lang="en-US" b="1" dirty="0">
                <a:solidFill>
                  <a:srgbClr val="0B3C5D"/>
                </a:solidFill>
              </a:rPr>
              <a:t>CONSUMPTION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983D6-D483-6176-7D8C-79638ABFB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365" y="850210"/>
            <a:ext cx="3458058" cy="1724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31D163-2765-B702-B787-452F76AB9009}"/>
              </a:ext>
            </a:extLst>
          </p:cNvPr>
          <p:cNvSpPr txBox="1"/>
          <p:nvPr/>
        </p:nvSpPr>
        <p:spPr>
          <a:xfrm>
            <a:off x="7465084" y="1033111"/>
            <a:ext cx="40651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rgbClr val="0B3C5D"/>
                </a:solidFill>
              </a:rPr>
              <a:t>Point-in-time snapshot of the “Leads per Active Listing” KPI, stored as a table for stable reporting and historical comparisons.</a:t>
            </a:r>
          </a:p>
          <a:p>
            <a:pPr>
              <a:buNone/>
            </a:pPr>
            <a:r>
              <a:rPr lang="en-US" sz="1000" b="1" dirty="0">
                <a:solidFill>
                  <a:srgbClr val="0B3C5D"/>
                </a:solidFill>
              </a:rPr>
              <a:t>Why it exists</a:t>
            </a:r>
            <a:endParaRPr lang="en-US" sz="1000" dirty="0">
              <a:solidFill>
                <a:srgbClr val="0B3C5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Ensures consistent numbers for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Protects dashboards from upstream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Useful for exports and month-end reporting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B3C5D"/>
              </a:solidFill>
            </a:endParaRPr>
          </a:p>
          <a:p>
            <a:r>
              <a:rPr lang="en-US" sz="1000" dirty="0" err="1">
                <a:solidFill>
                  <a:srgbClr val="0B3C5D"/>
                </a:solidFill>
              </a:rPr>
              <a:t>aviv.gold.kpi_leads_per_active_listing</a:t>
            </a:r>
            <a:endParaRPr lang="en-US" sz="1000" dirty="0">
              <a:solidFill>
                <a:srgbClr val="0B3C5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CF86BB-A360-8502-D027-6E4C03C4CCA7}"/>
              </a:ext>
            </a:extLst>
          </p:cNvPr>
          <p:cNvSpPr txBox="1"/>
          <p:nvPr/>
        </p:nvSpPr>
        <p:spPr>
          <a:xfrm>
            <a:off x="4074902" y="2910907"/>
            <a:ext cx="350232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B3C5D"/>
                </a:solidFill>
              </a:rPr>
              <a:t>Aggregated view of leads per active listing by region and property type, used for high-level dashboards.</a:t>
            </a:r>
          </a:p>
          <a:p>
            <a:r>
              <a:rPr lang="en-US" sz="1000" b="1" dirty="0">
                <a:solidFill>
                  <a:srgbClr val="0B3C5D"/>
                </a:solidFill>
              </a:rPr>
              <a:t>Typical use</a:t>
            </a:r>
            <a:endParaRPr lang="en-US" sz="1000" dirty="0">
              <a:solidFill>
                <a:srgbClr val="0B3C5D"/>
              </a:solidFill>
            </a:endParaRPr>
          </a:p>
          <a:p>
            <a:r>
              <a:rPr lang="en-US" sz="1000" dirty="0">
                <a:solidFill>
                  <a:srgbClr val="0B3C5D"/>
                </a:solidFill>
              </a:rPr>
              <a:t>Executive or product-level reporting</a:t>
            </a:r>
          </a:p>
          <a:p>
            <a:r>
              <a:rPr lang="en-US" sz="1000" dirty="0">
                <a:solidFill>
                  <a:srgbClr val="0B3C5D"/>
                </a:solidFill>
              </a:rPr>
              <a:t>Compare regions and property types</a:t>
            </a:r>
          </a:p>
          <a:p>
            <a:endParaRPr lang="en-US" sz="1000" dirty="0">
              <a:solidFill>
                <a:srgbClr val="0B3C5D"/>
              </a:solidFill>
            </a:endParaRPr>
          </a:p>
          <a:p>
            <a:r>
              <a:rPr lang="en-US" sz="1000" dirty="0" err="1">
                <a:solidFill>
                  <a:srgbClr val="0B3C5D"/>
                </a:solidFill>
              </a:rPr>
              <a:t>aviv.gold.kpi_leads_per_active_listing</a:t>
            </a:r>
            <a:endParaRPr lang="en-US" sz="1000" dirty="0">
              <a:solidFill>
                <a:srgbClr val="0B3C5D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753620-CD7A-822A-6EA1-605FAD1F3FA4}"/>
              </a:ext>
            </a:extLst>
          </p:cNvPr>
          <p:cNvSpPr txBox="1"/>
          <p:nvPr/>
        </p:nvSpPr>
        <p:spPr>
          <a:xfrm>
            <a:off x="253307" y="1712343"/>
            <a:ext cx="345805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solidFill>
                  <a:srgbClr val="0B3C5D"/>
                </a:solidFill>
              </a:rPr>
              <a:t>Detailed view of the KPI with additional breakdowns (e.g. date, source), used for deeper analysis and drill-downs.</a:t>
            </a:r>
          </a:p>
          <a:p>
            <a:pPr>
              <a:buNone/>
            </a:pPr>
            <a:r>
              <a:rPr lang="en-US" sz="1000" b="1" dirty="0">
                <a:solidFill>
                  <a:srgbClr val="0B3C5D"/>
                </a:solidFill>
              </a:rPr>
              <a:t>Typical use</a:t>
            </a:r>
            <a:endParaRPr lang="en-US" sz="1000" dirty="0">
              <a:solidFill>
                <a:srgbClr val="0B3C5D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Analysts exploring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B3C5D"/>
                </a:solidFill>
              </a:rPr>
              <a:t>Root-cause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B3C5D"/>
              </a:solidFill>
            </a:endParaRPr>
          </a:p>
          <a:p>
            <a:r>
              <a:rPr lang="en-US" sz="1000" dirty="0" err="1">
                <a:solidFill>
                  <a:srgbClr val="0B3C5D"/>
                </a:solidFill>
              </a:rPr>
              <a:t>aviv.gold.mart_daily_leads_per_listing</a:t>
            </a:r>
            <a:endParaRPr lang="en-US" sz="1000" dirty="0">
              <a:solidFill>
                <a:srgbClr val="0B3C5D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07430D-2B7B-081A-568B-5C47A72FB35B}"/>
              </a:ext>
            </a:extLst>
          </p:cNvPr>
          <p:cNvCxnSpPr>
            <a:cxnSpLocks/>
          </p:cNvCxnSpPr>
          <p:nvPr/>
        </p:nvCxnSpPr>
        <p:spPr>
          <a:xfrm>
            <a:off x="6948943" y="1540942"/>
            <a:ext cx="440959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258519-BAD0-449E-BFEB-2937706544F1}"/>
              </a:ext>
            </a:extLst>
          </p:cNvPr>
          <p:cNvCxnSpPr>
            <a:cxnSpLocks/>
          </p:cNvCxnSpPr>
          <p:nvPr/>
        </p:nvCxnSpPr>
        <p:spPr>
          <a:xfrm>
            <a:off x="5440394" y="2574117"/>
            <a:ext cx="0" cy="32435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539E07-04DF-E36C-1641-889DD61B2D27}"/>
              </a:ext>
            </a:extLst>
          </p:cNvPr>
          <p:cNvCxnSpPr>
            <a:cxnSpLocks/>
          </p:cNvCxnSpPr>
          <p:nvPr/>
        </p:nvCxnSpPr>
        <p:spPr>
          <a:xfrm flipH="1">
            <a:off x="3381555" y="2117920"/>
            <a:ext cx="69334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2357A5E-D9BA-C21D-1F39-12DA44E5223E}"/>
              </a:ext>
            </a:extLst>
          </p:cNvPr>
          <p:cNvSpPr/>
          <p:nvPr/>
        </p:nvSpPr>
        <p:spPr>
          <a:xfrm>
            <a:off x="253308" y="563245"/>
            <a:ext cx="11435486" cy="3720639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00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F570E-9D8C-5125-57AC-CF5AFAAF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1CBB181-3472-F449-D69B-F4801AB1630F}"/>
              </a:ext>
            </a:extLst>
          </p:cNvPr>
          <p:cNvSpPr/>
          <p:nvPr/>
        </p:nvSpPr>
        <p:spPr>
          <a:xfrm>
            <a:off x="8180982" y="3207264"/>
            <a:ext cx="3418264" cy="2296390"/>
          </a:xfrm>
          <a:prstGeom prst="roundRect">
            <a:avLst/>
          </a:prstGeom>
          <a:solidFill>
            <a:srgbClr val="E8F0FE">
              <a:alpha val="27059"/>
            </a:srgbClr>
          </a:solidFill>
          <a:ln>
            <a:solidFill>
              <a:srgbClr val="0B3C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01DF787-1E54-96E2-F8BD-BC60D5650A19}"/>
              </a:ext>
            </a:extLst>
          </p:cNvPr>
          <p:cNvSpPr/>
          <p:nvPr/>
        </p:nvSpPr>
        <p:spPr>
          <a:xfrm>
            <a:off x="120770" y="2451173"/>
            <a:ext cx="7556739" cy="4172393"/>
          </a:xfrm>
          <a:prstGeom prst="roundRect">
            <a:avLst/>
          </a:prstGeom>
          <a:solidFill>
            <a:srgbClr val="E8F0FE">
              <a:alpha val="27059"/>
            </a:srgbClr>
          </a:solidFill>
          <a:ln>
            <a:solidFill>
              <a:srgbClr val="0B3C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F620BC9-4A53-6E9B-9923-AD28DAF42763}"/>
              </a:ext>
            </a:extLst>
          </p:cNvPr>
          <p:cNvSpPr/>
          <p:nvPr/>
        </p:nvSpPr>
        <p:spPr>
          <a:xfrm>
            <a:off x="120770" y="474453"/>
            <a:ext cx="11910742" cy="1737948"/>
          </a:xfrm>
          <a:prstGeom prst="roundRect">
            <a:avLst/>
          </a:prstGeom>
          <a:solidFill>
            <a:srgbClr val="E8F0FE">
              <a:alpha val="27059"/>
            </a:srgbClr>
          </a:solidFill>
          <a:ln>
            <a:solidFill>
              <a:srgbClr val="0B3C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862EB1-09AD-C6DD-FCDE-84525FFFF0D6}"/>
              </a:ext>
            </a:extLst>
          </p:cNvPr>
          <p:cNvSpPr/>
          <p:nvPr/>
        </p:nvSpPr>
        <p:spPr>
          <a:xfrm>
            <a:off x="0" y="267419"/>
            <a:ext cx="12192000" cy="94890"/>
          </a:xfrm>
          <a:prstGeom prst="rect">
            <a:avLst/>
          </a:prstGeom>
          <a:solidFill>
            <a:srgbClr val="1F6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C75F4-1940-683B-213F-21DCF0C0DE31}"/>
              </a:ext>
            </a:extLst>
          </p:cNvPr>
          <p:cNvSpPr txBox="1"/>
          <p:nvPr/>
        </p:nvSpPr>
        <p:spPr>
          <a:xfrm>
            <a:off x="0" y="-54468"/>
            <a:ext cx="4098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F6AE1"/>
                </a:solidFill>
              </a:rPr>
              <a:t>Data Model &amp; Key Tables – </a:t>
            </a:r>
            <a:r>
              <a:rPr lang="en-US" b="1" dirty="0">
                <a:solidFill>
                  <a:srgbClr val="0B3C5D"/>
                </a:solidFill>
              </a:rPr>
              <a:t>SCD Type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606DAE-7F82-BE48-B921-8FC7DDBB6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62" y="694380"/>
            <a:ext cx="2671612" cy="1201586"/>
          </a:xfrm>
          <a:prstGeom prst="rect">
            <a:avLst/>
          </a:prstGeom>
          <a:ln w="12700" cap="sq">
            <a:solidFill>
              <a:srgbClr val="0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6F50CFC-515A-6A61-D995-C16A9E968821}"/>
              </a:ext>
            </a:extLst>
          </p:cNvPr>
          <p:cNvSpPr/>
          <p:nvPr/>
        </p:nvSpPr>
        <p:spPr>
          <a:xfrm>
            <a:off x="3471655" y="840529"/>
            <a:ext cx="1997519" cy="861396"/>
          </a:xfrm>
          <a:prstGeom prst="rect">
            <a:avLst/>
          </a:prstGeom>
          <a:noFill/>
          <a:ln>
            <a:solidFill>
              <a:srgbClr val="0B3C5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40A07B-1114-FCD8-D187-20B437C22370}"/>
              </a:ext>
            </a:extLst>
          </p:cNvPr>
          <p:cNvSpPr txBox="1"/>
          <p:nvPr/>
        </p:nvSpPr>
        <p:spPr>
          <a:xfrm>
            <a:off x="3582350" y="902500"/>
            <a:ext cx="1776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B3C5D"/>
                </a:solidFill>
              </a:rPr>
              <a:t>Property listings</a:t>
            </a:r>
          </a:p>
          <a:p>
            <a:pPr algn="ctr"/>
            <a:r>
              <a:rPr lang="en-US" dirty="0">
                <a:solidFill>
                  <a:srgbClr val="0B3C5D"/>
                </a:solidFill>
              </a:rPr>
              <a:t>(DIM)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E16767-B74F-5C31-84D3-AD24AFBE9A30}"/>
              </a:ext>
            </a:extLst>
          </p:cNvPr>
          <p:cNvSpPr txBox="1"/>
          <p:nvPr/>
        </p:nvSpPr>
        <p:spPr>
          <a:xfrm>
            <a:off x="7221666" y="889014"/>
            <a:ext cx="831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B3C5D"/>
                </a:solidFill>
              </a:rPr>
              <a:t>Leads</a:t>
            </a:r>
          </a:p>
          <a:p>
            <a:pPr algn="ctr"/>
            <a:r>
              <a:rPr lang="en-US" dirty="0">
                <a:solidFill>
                  <a:srgbClr val="0B3C5D"/>
                </a:solidFill>
              </a:rPr>
              <a:t>(FACT)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58C942-7483-A2A1-0DDF-BAFD206E333C}"/>
              </a:ext>
            </a:extLst>
          </p:cNvPr>
          <p:cNvSpPr/>
          <p:nvPr/>
        </p:nvSpPr>
        <p:spPr>
          <a:xfrm>
            <a:off x="6633722" y="840529"/>
            <a:ext cx="1997519" cy="861396"/>
          </a:xfrm>
          <a:prstGeom prst="rect">
            <a:avLst/>
          </a:prstGeom>
          <a:noFill/>
          <a:ln>
            <a:solidFill>
              <a:srgbClr val="0B3C5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 descr="Arrow: Straight with solid fill">
            <a:extLst>
              <a:ext uri="{FF2B5EF4-FFF2-40B4-BE49-F238E27FC236}">
                <a16:creationId xmlns:a16="http://schemas.microsoft.com/office/drawing/2014/main" id="{6B5A7448-C968-FF08-52B5-B89710542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8413" y="1029660"/>
            <a:ext cx="457200" cy="457200"/>
          </a:xfrm>
          <a:prstGeom prst="rect">
            <a:avLst/>
          </a:prstGeom>
        </p:spPr>
      </p:pic>
      <p:pic>
        <p:nvPicPr>
          <p:cNvPr id="25" name="Graphic 24" descr="Arrow: Straight with solid fill">
            <a:extLst>
              <a:ext uri="{FF2B5EF4-FFF2-40B4-BE49-F238E27FC236}">
                <a16:creationId xmlns:a16="http://schemas.microsoft.com/office/drawing/2014/main" id="{14D76E95-EC6D-B063-DD66-39F3D7645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8692320" y="980656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568111-A245-D933-D5D5-03A2A7D15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3587" y="694380"/>
            <a:ext cx="2400066" cy="1200033"/>
          </a:xfrm>
          <a:prstGeom prst="rect">
            <a:avLst/>
          </a:prstGeom>
          <a:ln w="12700" cap="sq">
            <a:solidFill>
              <a:srgbClr val="0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6F068EB-C147-3A3F-1F85-F4B8BB989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262" y="2950146"/>
            <a:ext cx="7024362" cy="1212508"/>
          </a:xfrm>
          <a:prstGeom prst="rect">
            <a:avLst/>
          </a:prstGeom>
          <a:ln w="12700" cap="sq">
            <a:solidFill>
              <a:srgbClr val="0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380A091-58FF-57C9-2F04-995A7A07FC69}"/>
              </a:ext>
            </a:extLst>
          </p:cNvPr>
          <p:cNvSpPr txBox="1"/>
          <p:nvPr/>
        </p:nvSpPr>
        <p:spPr>
          <a:xfrm>
            <a:off x="434932" y="2555944"/>
            <a:ext cx="8309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B3C5D"/>
                </a:solidFill>
              </a:rPr>
              <a:t>SCD2 Type – data updated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E11C2DA-AA7A-6E1D-22BF-96CF4D593940}"/>
              </a:ext>
            </a:extLst>
          </p:cNvPr>
          <p:cNvCxnSpPr>
            <a:cxnSpLocks/>
          </p:cNvCxnSpPr>
          <p:nvPr/>
        </p:nvCxnSpPr>
        <p:spPr>
          <a:xfrm>
            <a:off x="434932" y="2863721"/>
            <a:ext cx="2170775" cy="0"/>
          </a:xfrm>
          <a:prstGeom prst="line">
            <a:avLst/>
          </a:prstGeom>
          <a:ln w="28575">
            <a:solidFill>
              <a:srgbClr val="0B3C5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11F10B8-9BA1-33CB-4F3C-EF5A458F001C}"/>
              </a:ext>
            </a:extLst>
          </p:cNvPr>
          <p:cNvSpPr/>
          <p:nvPr/>
        </p:nvSpPr>
        <p:spPr>
          <a:xfrm>
            <a:off x="1863306" y="3529472"/>
            <a:ext cx="595223" cy="744172"/>
          </a:xfrm>
          <a:prstGeom prst="rect">
            <a:avLst/>
          </a:prstGeom>
          <a:noFill/>
          <a:ln>
            <a:solidFill>
              <a:srgbClr val="1F6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5FB8F3-22DD-98C8-ADDF-343F1CB1E12F}"/>
              </a:ext>
            </a:extLst>
          </p:cNvPr>
          <p:cNvSpPr/>
          <p:nvPr/>
        </p:nvSpPr>
        <p:spPr>
          <a:xfrm>
            <a:off x="5716510" y="3577205"/>
            <a:ext cx="1505156" cy="693783"/>
          </a:xfrm>
          <a:prstGeom prst="rect">
            <a:avLst/>
          </a:prstGeom>
          <a:noFill/>
          <a:ln>
            <a:solidFill>
              <a:srgbClr val="1F6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7143F6-2AA6-1CDB-A041-3E39FB2793F2}"/>
              </a:ext>
            </a:extLst>
          </p:cNvPr>
          <p:cNvSpPr txBox="1"/>
          <p:nvPr/>
        </p:nvSpPr>
        <p:spPr>
          <a:xfrm>
            <a:off x="358482" y="4525112"/>
            <a:ext cx="8309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B3C5D"/>
                </a:solidFill>
              </a:rPr>
              <a:t>SCD2 Type – data removed from bronze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8125127-34B8-6B89-3FF6-6D0DC0CE61EB}"/>
              </a:ext>
            </a:extLst>
          </p:cNvPr>
          <p:cNvCxnSpPr>
            <a:cxnSpLocks/>
          </p:cNvCxnSpPr>
          <p:nvPr/>
        </p:nvCxnSpPr>
        <p:spPr>
          <a:xfrm>
            <a:off x="434932" y="4832889"/>
            <a:ext cx="2170775" cy="0"/>
          </a:xfrm>
          <a:prstGeom prst="line">
            <a:avLst/>
          </a:prstGeom>
          <a:ln w="28575">
            <a:solidFill>
              <a:srgbClr val="0B3C5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C822C2A8-CFBB-6A88-68C0-655EA6A5EA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262" y="4964527"/>
            <a:ext cx="7024362" cy="1065232"/>
          </a:xfrm>
          <a:prstGeom prst="rect">
            <a:avLst/>
          </a:prstGeom>
          <a:ln w="12700" cap="sq">
            <a:solidFill>
              <a:srgbClr val="0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F390A222-C0D8-7649-5CA8-271FAF00C1AD}"/>
              </a:ext>
            </a:extLst>
          </p:cNvPr>
          <p:cNvSpPr/>
          <p:nvPr/>
        </p:nvSpPr>
        <p:spPr>
          <a:xfrm>
            <a:off x="5716511" y="5576431"/>
            <a:ext cx="1564114" cy="584965"/>
          </a:xfrm>
          <a:prstGeom prst="rect">
            <a:avLst/>
          </a:prstGeom>
          <a:noFill/>
          <a:ln>
            <a:solidFill>
              <a:srgbClr val="1F6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3741B69-8A20-EAC5-A70E-5260EC56F0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0642" y="4095488"/>
            <a:ext cx="3117352" cy="1121298"/>
          </a:xfrm>
          <a:prstGeom prst="rect">
            <a:avLst/>
          </a:prstGeom>
          <a:ln w="12700" cap="sq">
            <a:solidFill>
              <a:srgbClr val="000000"/>
            </a:solidFill>
            <a:prstDash val="sys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8F70EA57-6DA5-1726-8C5C-31E2626069A6}"/>
              </a:ext>
            </a:extLst>
          </p:cNvPr>
          <p:cNvSpPr/>
          <p:nvPr/>
        </p:nvSpPr>
        <p:spPr>
          <a:xfrm>
            <a:off x="8891353" y="3457080"/>
            <a:ext cx="1997519" cy="369333"/>
          </a:xfrm>
          <a:prstGeom prst="rect">
            <a:avLst/>
          </a:prstGeom>
          <a:noFill/>
          <a:ln>
            <a:solidFill>
              <a:srgbClr val="0B3C5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89DF62-84BB-2B86-7281-CCA4AD7F6F3E}"/>
              </a:ext>
            </a:extLst>
          </p:cNvPr>
          <p:cNvSpPr txBox="1"/>
          <p:nvPr/>
        </p:nvSpPr>
        <p:spPr>
          <a:xfrm>
            <a:off x="9023160" y="3493857"/>
            <a:ext cx="1649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B3C5D"/>
                </a:solidFill>
              </a:rPr>
              <a:t>Data Quality</a:t>
            </a:r>
          </a:p>
        </p:txBody>
      </p:sp>
    </p:spTree>
    <p:extLst>
      <p:ext uri="{BB962C8B-B14F-4D97-AF65-F5344CB8AC3E}">
        <p14:creationId xmlns:p14="http://schemas.microsoft.com/office/powerpoint/2010/main" val="923925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578</Words>
  <Application>Microsoft Office PowerPoint</Application>
  <PresentationFormat>Widescreen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Irina Florescu (External)</dc:creator>
  <cp:lastModifiedBy>Irina Florescu (External)</cp:lastModifiedBy>
  <cp:revision>6</cp:revision>
  <dcterms:created xsi:type="dcterms:W3CDTF">2025-12-12T12:10:17Z</dcterms:created>
  <dcterms:modified xsi:type="dcterms:W3CDTF">2025-12-12T20:16:21Z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9fea72e-161c-48c8-8e82-3fc1e9b3162c_Enabled">
    <vt:lpwstr>true</vt:lpwstr>
  </property>
  <property fmtid="{D5CDD505-2E9C-101B-9397-08002B2CF9AE}" pid="3" name="MSIP_Label_e9fea72e-161c-48c8-8e82-3fc1e9b3162c_SetDate">
    <vt:lpwstr>2025-12-12T12:35:12Z</vt:lpwstr>
  </property>
  <property fmtid="{D5CDD505-2E9C-101B-9397-08002B2CF9AE}" pid="4" name="MSIP_Label_e9fea72e-161c-48c8-8e82-3fc1e9b3162c_Method">
    <vt:lpwstr>Standard</vt:lpwstr>
  </property>
  <property fmtid="{D5CDD505-2E9C-101B-9397-08002B2CF9AE}" pid="5" name="MSIP_Label_e9fea72e-161c-48c8-8e82-3fc1e9b3162c_Name">
    <vt:lpwstr>Normal sensitivity label</vt:lpwstr>
  </property>
  <property fmtid="{D5CDD505-2E9C-101B-9397-08002B2CF9AE}" pid="6" name="MSIP_Label_e9fea72e-161c-48c8-8e82-3fc1e9b3162c_SiteId">
    <vt:lpwstr>ff9c7474-421d-4957-8d47-c4b64dec87b5</vt:lpwstr>
  </property>
  <property fmtid="{D5CDD505-2E9C-101B-9397-08002B2CF9AE}" pid="7" name="MSIP_Label_e9fea72e-161c-48c8-8e82-3fc1e9b3162c_ActionId">
    <vt:lpwstr>cf47fecb-e91f-458a-81aa-cc3b0f4f5d10</vt:lpwstr>
  </property>
  <property fmtid="{D5CDD505-2E9C-101B-9397-08002B2CF9AE}" pid="8" name="MSIP_Label_e9fea72e-161c-48c8-8e82-3fc1e9b3162c_ContentBits">
    <vt:lpwstr>0</vt:lpwstr>
  </property>
  <property fmtid="{D5CDD505-2E9C-101B-9397-08002B2CF9AE}" pid="9" name="MSIP_Label_e9fea72e-161c-48c8-8e82-3fc1e9b3162c_Tag">
    <vt:lpwstr>10, 3, 0, 1</vt:lpwstr>
  </property>
</Properties>
</file>